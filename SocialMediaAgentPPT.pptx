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5" r:id="rId5"/>
    <p:sldId id="278" r:id="rId6"/>
    <p:sldId id="281" r:id="rId7"/>
    <p:sldId id="279" r:id="rId8"/>
    <p:sldId id="262" r:id="rId9"/>
    <p:sldId id="264" r:id="rId10"/>
    <p:sldId id="286" r:id="rId11"/>
    <p:sldId id="287" r:id="rId12"/>
    <p:sldId id="280" r:id="rId13"/>
    <p:sldId id="288" r:id="rId14"/>
    <p:sldId id="289"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70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413252728"/>
              </p:ext>
            </p:extLst>
          </p:nvPr>
        </p:nvGraphicFramePr>
        <p:xfrm>
          <a:off x="1299257" y="2432630"/>
          <a:ext cx="9394989" cy="31324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540089">
                  <a:extLst>
                    <a:ext uri="{9D8B030D-6E8A-4147-A177-3AD203B41FA5}">
                      <a16:colId xmlns:a16="http://schemas.microsoft.com/office/drawing/2014/main" val="20003"/>
                    </a:ext>
                  </a:extLst>
                </a:gridCol>
                <a:gridCol w="2346659">
                  <a:extLst>
                    <a:ext uri="{9D8B030D-6E8A-4147-A177-3AD203B41FA5}">
                      <a16:colId xmlns:a16="http://schemas.microsoft.com/office/drawing/2014/main" val="20004"/>
                    </a:ext>
                  </a:extLst>
                </a:gridCol>
              </a:tblGrid>
              <a:tr h="1406745">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725683">
                <a:tc>
                  <a:txBody>
                    <a:bodyPr/>
                    <a:lstStyle/>
                    <a:p>
                      <a:pPr marL="0" marR="0" lvl="0" indent="0" algn="l" rtl="0">
                        <a:spcBef>
                          <a:spcPts val="0"/>
                        </a:spcBef>
                        <a:spcAft>
                          <a:spcPts val="0"/>
                        </a:spcAft>
                        <a:buNone/>
                      </a:pPr>
                      <a:r>
                        <a:rPr lang="en-US" sz="1800" dirty="0"/>
                        <a:t>Harshada Kishor Dive</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800" dirty="0"/>
                        <a:t>diveharshada5@gmail.com</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800" dirty="0"/>
                        <a:t>9022631428</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Social Media]</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IN" sz="2400" dirty="0">
                <a:highlight>
                  <a:srgbClr val="FFFF00"/>
                </a:highlight>
              </a:rPr>
              <a:t>Social Media Agent </a:t>
            </a:r>
            <a:r>
              <a:rPr lang="en-US" sz="2400" b="1" dirty="0">
                <a:highlight>
                  <a:srgbClr val="FFFF00"/>
                </a:highlight>
              </a:rPr>
              <a:t>]</a:t>
            </a:r>
            <a:endParaRPr lang="en-IN" sz="2400" b="1" dirty="0">
              <a:highlight>
                <a:srgbClr val="FFFF00"/>
              </a:highlight>
            </a:endParaRPr>
          </a:p>
        </p:txBody>
      </p:sp>
      <p:pic>
        <p:nvPicPr>
          <p:cNvPr id="5" name="Picture 4">
            <a:extLst>
              <a:ext uri="{FF2B5EF4-FFF2-40B4-BE49-F238E27FC236}">
                <a16:creationId xmlns:a16="http://schemas.microsoft.com/office/drawing/2014/main" id="{607B135D-BD68-1C66-7C1C-1134A1D338B1}"/>
              </a:ext>
            </a:extLst>
          </p:cNvPr>
          <p:cNvPicPr>
            <a:picLocks noChangeAspect="1"/>
          </p:cNvPicPr>
          <p:nvPr/>
        </p:nvPicPr>
        <p:blipFill>
          <a:blip r:embed="rId3"/>
          <a:stretch>
            <a:fillRect/>
          </a:stretch>
        </p:blipFill>
        <p:spPr>
          <a:xfrm>
            <a:off x="3972694" y="3918645"/>
            <a:ext cx="1277732" cy="141190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232202"/>
          </a:xfrm>
          <a:prstGeom prst="rect">
            <a:avLst/>
          </a:prstGeom>
          <a:noFill/>
        </p:spPr>
        <p:txBody>
          <a:bodyPr wrap="square" rtlCol="0">
            <a:spAutoFit/>
          </a:bodyPr>
          <a:lstStyle/>
          <a:p>
            <a:pPr fontAlgn="base"/>
            <a:r>
              <a:rPr lang="en-US" sz="1600" b="1" dirty="0"/>
              <a:t>Problem Statement : </a:t>
            </a:r>
            <a:r>
              <a:rPr lang="en-IN" sz="1600" dirty="0"/>
              <a:t>Social Media Agent </a:t>
            </a:r>
          </a:p>
          <a:p>
            <a:pPr fontAlgn="base"/>
            <a:endParaRPr lang="en-US" sz="1600" b="1" dirty="0"/>
          </a:p>
          <a:p>
            <a:pPr fontAlgn="base"/>
            <a:r>
              <a:rPr lang="en-US" sz="1600" b="1" dirty="0"/>
              <a:t>The Challenge</a:t>
            </a:r>
            <a:r>
              <a:rPr lang="en-US" sz="1600" dirty="0"/>
              <a:t> </a:t>
            </a:r>
          </a:p>
          <a:p>
            <a:pPr fontAlgn="base"/>
            <a:r>
              <a:rPr lang="en-IN" sz="1600" dirty="0"/>
              <a:t>Brands, influencers, and organizations struggle to keep up with the fast-paced and fragmented world of social media. Content trends evolve hourly, audience sentiment shifts rapidly, and competitor strategies are difficult to track. Managing multiple platforms often leads to scattered insights, missed engagement opportunities, and ineffective campaigns. The challenge is not only to collect social media data but also to </a:t>
            </a:r>
            <a:r>
              <a:rPr lang="en-IN" sz="1600" dirty="0" err="1"/>
              <a:t>analyze</a:t>
            </a:r>
            <a:r>
              <a:rPr lang="en-IN" sz="1600" dirty="0"/>
              <a:t>, predict, and recommend actions in real time. </a:t>
            </a:r>
          </a:p>
          <a:p>
            <a:pPr fontAlgn="base"/>
            <a:endParaRPr lang="en-US" sz="1600" dirty="0"/>
          </a:p>
          <a:p>
            <a:pPr fontAlgn="base"/>
            <a:r>
              <a:rPr lang="en-US" sz="1600" b="1" dirty="0"/>
              <a:t>The Objective</a:t>
            </a:r>
            <a:r>
              <a:rPr lang="en-US" sz="1600" dirty="0"/>
              <a:t> </a:t>
            </a:r>
          </a:p>
          <a:p>
            <a:pPr fontAlgn="base"/>
            <a:endParaRPr lang="en-US" sz="1600" dirty="0"/>
          </a:p>
          <a:p>
            <a:pPr fontAlgn="base"/>
            <a:r>
              <a:rPr lang="en-IN" sz="1600" dirty="0"/>
              <a:t>Build an agentic AI application that acts as an intelligent social media companion. The solution should: </a:t>
            </a:r>
          </a:p>
          <a:p>
            <a:pPr marL="342900" indent="-342900" fontAlgn="base">
              <a:buAutoNum type="arabicPeriod"/>
            </a:pPr>
            <a:r>
              <a:rPr lang="en-IN" sz="1600" dirty="0"/>
              <a:t>Fuse Multichannel Data :- Collect and synthesize content, comments, hashtags, and competitor posts from platforms like X, LinkedIn, Instagram, and Facebook into unified insights. </a:t>
            </a:r>
          </a:p>
          <a:p>
            <a:pPr marL="342900" indent="-342900" fontAlgn="base">
              <a:buAutoNum type="arabicPeriod"/>
            </a:pPr>
            <a:r>
              <a:rPr lang="en-IN" sz="1600" dirty="0"/>
              <a:t>Enable Multimodal Interaction :- Accept user inputs (text, images, or voice prompts) and generate creative post drafts, captions, or campaign ideas aligned with brand tone. </a:t>
            </a:r>
          </a:p>
          <a:p>
            <a:pPr marL="342900" indent="-342900" fontAlgn="base">
              <a:buAutoNum type="arabicPeriod"/>
            </a:pPr>
            <a:r>
              <a:rPr lang="en-IN" sz="1600" dirty="0"/>
              <a:t>Create a Predictive &amp; Agentic Layer :- Forecast trending hashtags, audience sentiment shifts, and competitor engagement patterns while suggesting the best posting schedules. </a:t>
            </a:r>
          </a:p>
          <a:p>
            <a:pPr marL="342900" indent="-342900" fontAlgn="base">
              <a:buAutoNum type="arabicPeriod"/>
            </a:pPr>
            <a:r>
              <a:rPr lang="en-IN" sz="1600" dirty="0"/>
              <a:t>Visualize Social Media Pulse :- Provide a dashboard with real-time analytics—engagement trends, influencer mapping, sentiment tracking, and campaign performance forecasts.</a:t>
            </a:r>
            <a:endParaRPr lang="en-US" sz="1600"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523220"/>
          </a:xfrm>
          <a:prstGeom prst="rect">
            <a:avLst/>
          </a:prstGeom>
          <a:noFill/>
        </p:spPr>
        <p:txBody>
          <a:bodyPr wrap="square" rtlCol="0">
            <a:spAutoFit/>
          </a:bodyPr>
          <a:lstStyle/>
          <a:p>
            <a:r>
              <a:rPr lang="en-US" sz="2800" b="1" dirty="0"/>
              <a:t>Problem Statement -</a:t>
            </a:r>
            <a:endParaRPr lang="en-IN" sz="28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sz="1600" b="1" dirty="0"/>
          </a:p>
          <a:p>
            <a:r>
              <a:rPr lang="en-US" sz="1600" b="1" dirty="0"/>
              <a:t>Proposed Solution: </a:t>
            </a:r>
            <a:r>
              <a:rPr lang="en-IN" sz="1600" dirty="0" err="1"/>
              <a:t>PulseAI</a:t>
            </a:r>
            <a:r>
              <a:rPr lang="en-IN" sz="1600" dirty="0"/>
              <a:t>: Intelligent Social Media</a:t>
            </a:r>
          </a:p>
          <a:p>
            <a:endParaRPr lang="en-IN" sz="1600" dirty="0"/>
          </a:p>
          <a:p>
            <a:r>
              <a:rPr lang="en-IN" sz="1600" b="1" dirty="0" err="1"/>
              <a:t>PulseAI</a:t>
            </a:r>
            <a:r>
              <a:rPr lang="en-IN" sz="1600" dirty="0"/>
              <a:t> is an </a:t>
            </a:r>
            <a:r>
              <a:rPr lang="en-IN" sz="1600" b="1" dirty="0"/>
              <a:t>Agentic AI-powered Social Media Intelligence Platform</a:t>
            </a:r>
            <a:r>
              <a:rPr lang="en-IN" sz="1600" dirty="0"/>
              <a:t> designed to help brands, influencers, and organizations manage their social media presence more effectively. The system continuously collects and unifies data from multiple platforms such as </a:t>
            </a:r>
            <a:r>
              <a:rPr lang="en-IN" sz="1600" b="1" dirty="0"/>
              <a:t>X, LinkedIn, Instagram, and Facebook</a:t>
            </a:r>
            <a:r>
              <a:rPr lang="en-IN" sz="1600" dirty="0"/>
              <a:t>, including posts, comments, hashtags, engagement metrics, and competitor activities. Using </a:t>
            </a:r>
            <a:r>
              <a:rPr lang="en-IN" sz="1600" b="1" dirty="0"/>
              <a:t>IBM </a:t>
            </a:r>
            <a:r>
              <a:rPr lang="en-IN" sz="1600" b="1" dirty="0" err="1"/>
              <a:t>Langflow</a:t>
            </a:r>
            <a:r>
              <a:rPr lang="en-IN" sz="1600" dirty="0"/>
              <a:t> for workflow orchestration and </a:t>
            </a:r>
            <a:r>
              <a:rPr lang="en-IN" sz="1600" b="1" dirty="0"/>
              <a:t>IBM Granite Models</a:t>
            </a:r>
            <a:r>
              <a:rPr lang="en-IN" sz="1600" dirty="0"/>
              <a:t> for AI-driven analysis, the platform transforms raw social media data into actionable business insights.</a:t>
            </a:r>
          </a:p>
          <a:p>
            <a:endParaRPr lang="en-IN" sz="1600" dirty="0"/>
          </a:p>
          <a:p>
            <a:r>
              <a:rPr lang="en-IN" sz="1600" dirty="0"/>
              <a:t>The solution leverages multiple AI agents to perform specialized tasks such as </a:t>
            </a:r>
            <a:r>
              <a:rPr lang="en-IN" sz="1600" b="1" dirty="0"/>
              <a:t>trend detection, sentiment analysis, competitor monitoring, audience </a:t>
            </a:r>
            <a:r>
              <a:rPr lang="en-IN" sz="1600" b="1" dirty="0" err="1"/>
              <a:t>behavior</a:t>
            </a:r>
            <a:r>
              <a:rPr lang="en-IN" sz="1600" b="1" dirty="0"/>
              <a:t> prediction, and content generation</a:t>
            </a:r>
            <a:r>
              <a:rPr lang="en-IN" sz="1600" dirty="0"/>
              <a:t>. Based on real-time analysis, the platform recommends the best posting time, trending hashtags, content ideas, captions, and campaign strategies to maximize audience engagement. Users can also interact with the system through </a:t>
            </a:r>
            <a:r>
              <a:rPr lang="en-IN" sz="1600" b="1" dirty="0"/>
              <a:t>text, image, or voice prompts</a:t>
            </a:r>
            <a:r>
              <a:rPr lang="en-IN" sz="1600" dirty="0"/>
              <a:t> to receive personalized marketing recommendations.</a:t>
            </a:r>
          </a:p>
          <a:p>
            <a:endParaRPr lang="en-IN" sz="1600" dirty="0"/>
          </a:p>
          <a:p>
            <a:r>
              <a:rPr lang="en-IN" sz="1600" dirty="0"/>
              <a:t>All insights are presented through an interactive dashboard featuring </a:t>
            </a:r>
            <a:r>
              <a:rPr lang="en-IN" sz="1600" b="1" dirty="0"/>
              <a:t>real-time analytics, sentiment distribution, influencer mapping, engagement tracking, campaign performance forecasts, and AI-generated recommendations</a:t>
            </a:r>
            <a:r>
              <a:rPr lang="en-IN" sz="1600" dirty="0"/>
              <a:t>. By combining predictive analytics with autonomous decision-making, </a:t>
            </a:r>
            <a:r>
              <a:rPr lang="en-IN" sz="1600" dirty="0" err="1"/>
              <a:t>PulseAI</a:t>
            </a:r>
            <a:r>
              <a:rPr lang="en-IN" sz="1600" dirty="0"/>
              <a:t> enables businesses to make data-driven marketing decisions, improve campaign effectiveness, and respond quickly to changing social media trends.</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523220"/>
          </a:xfrm>
          <a:prstGeom prst="rect">
            <a:avLst/>
          </a:prstGeom>
          <a:noFill/>
        </p:spPr>
        <p:txBody>
          <a:bodyPr wrap="square" rtlCol="0">
            <a:spAutoFit/>
          </a:bodyPr>
          <a:lstStyle/>
          <a:p>
            <a:r>
              <a:rPr lang="en-US" sz="2800" b="1" dirty="0"/>
              <a:t>Proposed Solution -</a:t>
            </a:r>
            <a:endParaRPr lang="en-IN" sz="28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523220"/>
          </a:xfrm>
          <a:prstGeom prst="rect">
            <a:avLst/>
          </a:prstGeom>
          <a:noFill/>
        </p:spPr>
        <p:txBody>
          <a:bodyPr wrap="square" lIns="91440" tIns="45720" rIns="91440" bIns="45720" rtlCol="0" anchor="t">
            <a:spAutoFit/>
          </a:bodyPr>
          <a:lstStyle/>
          <a:p>
            <a:r>
              <a:rPr lang="en-US" sz="2800" b="1" dirty="0"/>
              <a:t>Technology Used</a:t>
            </a:r>
            <a:endParaRPr lang="en-IN" sz="2800" b="1" dirty="0"/>
          </a:p>
        </p:txBody>
      </p:sp>
      <p:graphicFrame>
        <p:nvGraphicFramePr>
          <p:cNvPr id="4" name="Table 3">
            <a:extLst>
              <a:ext uri="{FF2B5EF4-FFF2-40B4-BE49-F238E27FC236}">
                <a16:creationId xmlns:a16="http://schemas.microsoft.com/office/drawing/2014/main" id="{8472001A-8CBE-F559-909F-8C27932D962D}"/>
              </a:ext>
            </a:extLst>
          </p:cNvPr>
          <p:cNvGraphicFramePr>
            <a:graphicFrameLocks noGrp="1"/>
          </p:cNvGraphicFramePr>
          <p:nvPr>
            <p:extLst>
              <p:ext uri="{D42A27DB-BD31-4B8C-83A1-F6EECF244321}">
                <p14:modId xmlns:p14="http://schemas.microsoft.com/office/powerpoint/2010/main" val="2967626563"/>
              </p:ext>
            </p:extLst>
          </p:nvPr>
        </p:nvGraphicFramePr>
        <p:xfrm>
          <a:off x="838200" y="1351128"/>
          <a:ext cx="10515600" cy="5029200"/>
        </p:xfrm>
        <a:graphic>
          <a:graphicData uri="http://schemas.openxmlformats.org/drawingml/2006/table">
            <a:tbl>
              <a:tblPr/>
              <a:tblGrid>
                <a:gridCol w="5257800">
                  <a:extLst>
                    <a:ext uri="{9D8B030D-6E8A-4147-A177-3AD203B41FA5}">
                      <a16:colId xmlns:a16="http://schemas.microsoft.com/office/drawing/2014/main" val="42898812"/>
                    </a:ext>
                  </a:extLst>
                </a:gridCol>
                <a:gridCol w="5257800">
                  <a:extLst>
                    <a:ext uri="{9D8B030D-6E8A-4147-A177-3AD203B41FA5}">
                      <a16:colId xmlns:a16="http://schemas.microsoft.com/office/drawing/2014/main" val="1167259110"/>
                    </a:ext>
                  </a:extLst>
                </a:gridCol>
              </a:tblGrid>
              <a:tr h="345843">
                <a:tc>
                  <a:txBody>
                    <a:bodyPr/>
                    <a:lstStyle/>
                    <a:p>
                      <a:pPr>
                        <a:buNone/>
                      </a:pPr>
                      <a:r>
                        <a:rPr lang="en-IN" sz="1800"/>
                        <a:t>Layer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Technology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5574689"/>
                  </a:ext>
                </a:extLst>
              </a:tr>
              <a:tr h="345843">
                <a:tc>
                  <a:txBody>
                    <a:bodyPr/>
                    <a:lstStyle/>
                    <a:p>
                      <a:pPr>
                        <a:buNone/>
                      </a:pPr>
                      <a:r>
                        <a:rPr lang="en-IN" sz="1800"/>
                        <a:t>Frontend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React.js, Tailwind CSS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6326565"/>
                  </a:ext>
                </a:extLst>
              </a:tr>
              <a:tr h="345843">
                <a:tc>
                  <a:txBody>
                    <a:bodyPr/>
                    <a:lstStyle/>
                    <a:p>
                      <a:pPr>
                        <a:buNone/>
                      </a:pPr>
                      <a:r>
                        <a:rPr lang="en-IN" sz="1800"/>
                        <a:t>Backend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FastAPI / Flask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2430132"/>
                  </a:ext>
                </a:extLst>
              </a:tr>
              <a:tr h="345843">
                <a:tc>
                  <a:txBody>
                    <a:bodyPr/>
                    <a:lstStyle/>
                    <a:p>
                      <a:pPr>
                        <a:buNone/>
                      </a:pPr>
                      <a:r>
                        <a:rPr lang="en-IN" sz="1800"/>
                        <a:t>AI Orchestration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IBM Langflow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0657114"/>
                  </a:ext>
                </a:extLst>
              </a:tr>
              <a:tr h="345843">
                <a:tc>
                  <a:txBody>
                    <a:bodyPr/>
                    <a:lstStyle/>
                    <a:p>
                      <a:pPr>
                        <a:buNone/>
                      </a:pPr>
                      <a:r>
                        <a:rPr lang="en-IN" sz="1800" dirty="0"/>
                        <a:t>AI Models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IBM Granite LLM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23504880"/>
                  </a:ext>
                </a:extLst>
              </a:tr>
              <a:tr h="345843">
                <a:tc>
                  <a:txBody>
                    <a:bodyPr/>
                    <a:lstStyle/>
                    <a:p>
                      <a:pPr>
                        <a:buNone/>
                      </a:pPr>
                      <a:r>
                        <a:rPr lang="en-IN" sz="1800"/>
                        <a:t>Agent Framework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IBM Orchestrate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3525109"/>
                  </a:ext>
                </a:extLst>
              </a:tr>
              <a:tr h="345843">
                <a:tc>
                  <a:txBody>
                    <a:bodyPr/>
                    <a:lstStyle/>
                    <a:p>
                      <a:pPr>
                        <a:buNone/>
                      </a:pPr>
                      <a:r>
                        <a:rPr lang="en-IN" sz="1800"/>
                        <a:t>Database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MongoDB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7852085"/>
                  </a:ext>
                </a:extLst>
              </a:tr>
              <a:tr h="345843">
                <a:tc>
                  <a:txBody>
                    <a:bodyPr/>
                    <a:lstStyle/>
                    <a:p>
                      <a:pPr>
                        <a:buNone/>
                      </a:pPr>
                      <a:r>
                        <a:rPr lang="en-IN" sz="1800"/>
                        <a:t>Vector Database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ChromaDB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7379351"/>
                  </a:ext>
                </a:extLst>
              </a:tr>
              <a:tr h="345843">
                <a:tc>
                  <a:txBody>
                    <a:bodyPr/>
                    <a:lstStyle/>
                    <a:p>
                      <a:pPr>
                        <a:buNone/>
                      </a:pPr>
                      <a:r>
                        <a:rPr lang="en-IN" sz="1800"/>
                        <a:t>Data 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Pandas, NumPy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5303856"/>
                  </a:ext>
                </a:extLst>
              </a:tr>
              <a:tr h="587933">
                <a:tc>
                  <a:txBody>
                    <a:bodyPr/>
                    <a:lstStyle/>
                    <a:p>
                      <a:pPr>
                        <a:buNone/>
                      </a:pPr>
                      <a:r>
                        <a:rPr lang="en-IN" sz="1800"/>
                        <a:t>APIs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X API, LinkedIn API, Instagram Graph API, Facebook Graph API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3733753"/>
                  </a:ext>
                </a:extLst>
              </a:tr>
              <a:tr h="345843">
                <a:tc>
                  <a:txBody>
                    <a:bodyPr/>
                    <a:lstStyle/>
                    <a:p>
                      <a:pPr>
                        <a:buNone/>
                      </a:pPr>
                      <a:r>
                        <a:rPr lang="en-IN" sz="1800"/>
                        <a:t>Visualization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Plotly / Chart.js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8089910"/>
                  </a:ext>
                </a:extLst>
              </a:tr>
              <a:tr h="345843">
                <a:tc>
                  <a:txBody>
                    <a:bodyPr/>
                    <a:lstStyle/>
                    <a:p>
                      <a:pPr>
                        <a:buNone/>
                      </a:pPr>
                      <a:r>
                        <a:rPr lang="en-IN" sz="1800"/>
                        <a:t>Authentication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JWT / OAuth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16305705"/>
                  </a:ext>
                </a:extLst>
              </a:tr>
              <a:tr h="345843">
                <a:tc>
                  <a:txBody>
                    <a:bodyPr/>
                    <a:lstStyle/>
                    <a:p>
                      <a:pPr>
                        <a:buNone/>
                      </a:pPr>
                      <a:r>
                        <a:rPr lang="en-IN" sz="1800" dirty="0"/>
                        <a:t>Deployment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t>Docker, IBM Cloud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66926684"/>
                  </a:ext>
                </a:extLst>
              </a:tr>
            </a:tbl>
          </a:graphicData>
        </a:graphic>
      </p:graphicFrame>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dirty="0" err="1">
                <a:sym typeface="Times New Roman"/>
              </a:rPr>
              <a:t>Langflow</a:t>
            </a:r>
            <a:r>
              <a:rPr lang="en-US" sz="2800" b="1" i="0" u="none" strike="noStrike" cap="none" dirty="0">
                <a:solidFill>
                  <a:srgbClr val="051D3A"/>
                </a:solidFill>
                <a:latin typeface="Times New Roman"/>
                <a:ea typeface="Times New Roman"/>
                <a:cs typeface="Times New Roman"/>
                <a:sym typeface="Times New Roman"/>
              </a:rPr>
              <a:t> </a:t>
            </a:r>
            <a:r>
              <a:rPr lang="en-US" sz="2800" b="1" dirty="0">
                <a:sym typeface="Times New Roman"/>
              </a:rPr>
              <a:t>component Used -</a:t>
            </a:r>
            <a:endParaRPr sz="28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graphicFrame>
        <p:nvGraphicFramePr>
          <p:cNvPr id="3" name="Table 2">
            <a:extLst>
              <a:ext uri="{FF2B5EF4-FFF2-40B4-BE49-F238E27FC236}">
                <a16:creationId xmlns:a16="http://schemas.microsoft.com/office/drawing/2014/main" id="{BC788C6B-3D75-A6D0-5D4F-D96980BC6F9B}"/>
              </a:ext>
            </a:extLst>
          </p:cNvPr>
          <p:cNvGraphicFramePr>
            <a:graphicFrameLocks noGrp="1"/>
          </p:cNvGraphicFramePr>
          <p:nvPr>
            <p:extLst>
              <p:ext uri="{D42A27DB-BD31-4B8C-83A1-F6EECF244321}">
                <p14:modId xmlns:p14="http://schemas.microsoft.com/office/powerpoint/2010/main" val="2662661731"/>
              </p:ext>
            </p:extLst>
          </p:nvPr>
        </p:nvGraphicFramePr>
        <p:xfrm>
          <a:off x="838200" y="1296537"/>
          <a:ext cx="10515600" cy="4533552"/>
        </p:xfrm>
        <a:graphic>
          <a:graphicData uri="http://schemas.openxmlformats.org/drawingml/2006/table">
            <a:tbl>
              <a:tblPr/>
              <a:tblGrid>
                <a:gridCol w="5257800">
                  <a:extLst>
                    <a:ext uri="{9D8B030D-6E8A-4147-A177-3AD203B41FA5}">
                      <a16:colId xmlns:a16="http://schemas.microsoft.com/office/drawing/2014/main" val="2519421687"/>
                    </a:ext>
                  </a:extLst>
                </a:gridCol>
                <a:gridCol w="5257800">
                  <a:extLst>
                    <a:ext uri="{9D8B030D-6E8A-4147-A177-3AD203B41FA5}">
                      <a16:colId xmlns:a16="http://schemas.microsoft.com/office/drawing/2014/main" val="868460382"/>
                    </a:ext>
                  </a:extLst>
                </a:gridCol>
              </a:tblGrid>
              <a:tr h="377796">
                <a:tc>
                  <a:txBody>
                    <a:bodyPr/>
                    <a:lstStyle/>
                    <a:p>
                      <a:pPr>
                        <a:buNone/>
                      </a:pPr>
                      <a:r>
                        <a:rPr lang="en-IN" sz="1800"/>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1615070"/>
                  </a:ext>
                </a:extLst>
              </a:tr>
              <a:tr h="377796">
                <a:tc>
                  <a:txBody>
                    <a:bodyPr/>
                    <a:lstStyle/>
                    <a:p>
                      <a:pPr>
                        <a:buNone/>
                      </a:pPr>
                      <a:r>
                        <a:rPr lang="en-IN" sz="1800" dirty="0"/>
                        <a:t>Chat Input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Accept user query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6639561"/>
                  </a:ext>
                </a:extLst>
              </a:tr>
              <a:tr h="377796">
                <a:tc>
                  <a:txBody>
                    <a:bodyPr/>
                    <a:lstStyle/>
                    <a:p>
                      <a:pPr>
                        <a:buNone/>
                      </a:pPr>
                      <a:r>
                        <a:rPr lang="en-IN" sz="1800"/>
                        <a:t>API Request 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Fetch live social media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99945276"/>
                  </a:ext>
                </a:extLst>
              </a:tr>
              <a:tr h="377796">
                <a:tc>
                  <a:txBody>
                    <a:bodyPr/>
                    <a:lstStyle/>
                    <a:p>
                      <a:pPr>
                        <a:buNone/>
                      </a:pPr>
                      <a:r>
                        <a:rPr lang="en-IN" sz="1800"/>
                        <a:t>Prompt Template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Build structured prompts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3219"/>
                  </a:ext>
                </a:extLst>
              </a:tr>
              <a:tr h="377796">
                <a:tc>
                  <a:txBody>
                    <a:bodyPr/>
                    <a:lstStyle/>
                    <a:p>
                      <a:pPr>
                        <a:buNone/>
                      </a:pPr>
                      <a:r>
                        <a:rPr lang="en-IN" sz="1800" dirty="0"/>
                        <a:t>IBM Granite LLM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Analyze trends &amp; generate insights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2042369"/>
                  </a:ext>
                </a:extLst>
              </a:tr>
              <a:tr h="377796">
                <a:tc>
                  <a:txBody>
                    <a:bodyPr/>
                    <a:lstStyle/>
                    <a:p>
                      <a:pPr>
                        <a:buNone/>
                      </a:pPr>
                      <a:r>
                        <a:rPr lang="en-IN" sz="1800"/>
                        <a:t>Agent 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Decide next actions autonomously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708724"/>
                  </a:ext>
                </a:extLst>
              </a:tr>
              <a:tr h="377796">
                <a:tc>
                  <a:txBody>
                    <a:bodyPr/>
                    <a:lstStyle/>
                    <a:p>
                      <a:pPr>
                        <a:buNone/>
                      </a:pPr>
                      <a:r>
                        <a:rPr lang="en-IN" sz="1800"/>
                        <a:t>Retriever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Retrieve historical campaign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413902"/>
                  </a:ext>
                </a:extLst>
              </a:tr>
              <a:tr h="377796">
                <a:tc>
                  <a:txBody>
                    <a:bodyPr/>
                    <a:lstStyle/>
                    <a:p>
                      <a:pPr>
                        <a:buNone/>
                      </a:pPr>
                      <a:r>
                        <a:rPr lang="en-IN" sz="1800"/>
                        <a:t>Memory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Store conversation/user context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8688994"/>
                  </a:ext>
                </a:extLst>
              </a:tr>
              <a:tr h="377796">
                <a:tc>
                  <a:txBody>
                    <a:bodyPr/>
                    <a:lstStyle/>
                    <a:p>
                      <a:pPr>
                        <a:buNone/>
                      </a:pPr>
                      <a:r>
                        <a:rPr lang="en-IN" sz="1800"/>
                        <a:t>Conditional Router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Route requests to different workflows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23254874"/>
                  </a:ext>
                </a:extLst>
              </a:tr>
              <a:tr h="377796">
                <a:tc>
                  <a:txBody>
                    <a:bodyPr/>
                    <a:lstStyle/>
                    <a:p>
                      <a:pPr>
                        <a:buNone/>
                      </a:pPr>
                      <a:r>
                        <a:rPr lang="en-IN" sz="1800"/>
                        <a:t>Python 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Calculate engagement metrics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2319303"/>
                  </a:ext>
                </a:extLst>
              </a:tr>
              <a:tr h="377796">
                <a:tc>
                  <a:txBody>
                    <a:bodyPr/>
                    <a:lstStyle/>
                    <a:p>
                      <a:pPr>
                        <a:buNone/>
                      </a:pPr>
                      <a:r>
                        <a:rPr lang="en-IN" sz="1800"/>
                        <a:t>JSON Parser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Structure API responses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6616597"/>
                  </a:ext>
                </a:extLst>
              </a:tr>
              <a:tr h="377796">
                <a:tc>
                  <a:txBody>
                    <a:bodyPr/>
                    <a:lstStyle/>
                    <a:p>
                      <a:pPr>
                        <a:buNone/>
                      </a:pPr>
                      <a:r>
                        <a:rPr lang="en-IN" sz="1800"/>
                        <a:t>Output 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t>Dashboard &amp; report generation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3306707"/>
                  </a:ext>
                </a:extLst>
              </a:tr>
            </a:tbl>
          </a:graphicData>
        </a:graphic>
      </p:graphicFrame>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dirty="0" err="1">
                <a:sym typeface="Times New Roman"/>
              </a:rPr>
              <a:t>Langflow</a:t>
            </a:r>
            <a:r>
              <a:rPr lang="en-US" sz="2800" b="1" i="0" u="none" strike="noStrike" cap="none" dirty="0">
                <a:solidFill>
                  <a:srgbClr val="051D3A"/>
                </a:solidFill>
                <a:latin typeface="Times New Roman"/>
                <a:ea typeface="Times New Roman"/>
                <a:cs typeface="Times New Roman"/>
                <a:sym typeface="Times New Roman"/>
              </a:rPr>
              <a:t> </a:t>
            </a:r>
            <a:r>
              <a:rPr lang="en-US" sz="2800" b="1" dirty="0">
                <a:sym typeface="Times New Roman"/>
              </a:rPr>
              <a:t>workflow -</a:t>
            </a:r>
            <a:endParaRPr sz="2800" b="1" dirty="0">
              <a:sym typeface="Times New Roman"/>
            </a:endParaRPr>
          </a:p>
        </p:txBody>
      </p:sp>
      <p:pic>
        <p:nvPicPr>
          <p:cNvPr id="7" name="Picture 6">
            <a:extLst>
              <a:ext uri="{FF2B5EF4-FFF2-40B4-BE49-F238E27FC236}">
                <a16:creationId xmlns:a16="http://schemas.microsoft.com/office/drawing/2014/main" id="{DB2A6F35-B3AB-366C-443B-D397969C26FF}"/>
              </a:ext>
            </a:extLst>
          </p:cNvPr>
          <p:cNvPicPr>
            <a:picLocks noChangeAspect="1"/>
          </p:cNvPicPr>
          <p:nvPr/>
        </p:nvPicPr>
        <p:blipFill>
          <a:blip r:embed="rId3"/>
          <a:stretch>
            <a:fillRect/>
          </a:stretch>
        </p:blipFill>
        <p:spPr>
          <a:xfrm>
            <a:off x="341297" y="884903"/>
            <a:ext cx="11042130" cy="5525729"/>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800" b="1" dirty="0">
                <a:solidFill>
                  <a:schemeClr val="dk1"/>
                </a:solidFill>
                <a:latin typeface="Calibri"/>
                <a:ea typeface="Calibri"/>
                <a:cs typeface="Calibri"/>
                <a:sym typeface="Calibri"/>
              </a:rPr>
              <a:t>Architecture blueprint</a:t>
            </a:r>
            <a:endParaRPr lang="en-US" sz="2800" dirty="0"/>
          </a:p>
        </p:txBody>
      </p:sp>
      <p:pic>
        <p:nvPicPr>
          <p:cNvPr id="5" name="Picture 4">
            <a:extLst>
              <a:ext uri="{FF2B5EF4-FFF2-40B4-BE49-F238E27FC236}">
                <a16:creationId xmlns:a16="http://schemas.microsoft.com/office/drawing/2014/main" id="{87E451FF-278A-8A23-3D09-C10B2E592408}"/>
              </a:ext>
            </a:extLst>
          </p:cNvPr>
          <p:cNvPicPr>
            <a:picLocks noChangeAspect="1"/>
          </p:cNvPicPr>
          <p:nvPr/>
        </p:nvPicPr>
        <p:blipFill>
          <a:blip r:embed="rId3"/>
          <a:stretch>
            <a:fillRect/>
          </a:stretch>
        </p:blipFill>
        <p:spPr>
          <a:xfrm>
            <a:off x="2772697" y="849050"/>
            <a:ext cx="7384026" cy="579755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23220"/>
          </a:xfrm>
          <a:prstGeom prst="rect">
            <a:avLst/>
          </a:prstGeom>
          <a:noFill/>
        </p:spPr>
        <p:txBody>
          <a:bodyPr wrap="square" rtlCol="0">
            <a:spAutoFit/>
          </a:bodyPr>
          <a:lstStyle/>
          <a:p>
            <a:r>
              <a:rPr lang="en-US" sz="2800" b="1" dirty="0"/>
              <a:t>Role of Agentic AI in the solution </a:t>
            </a:r>
            <a:endParaRPr lang="en-IN" sz="28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5324535"/>
          </a:xfrm>
          <a:prstGeom prst="rect">
            <a:avLst/>
          </a:prstGeom>
          <a:noFill/>
        </p:spPr>
        <p:txBody>
          <a:bodyPr wrap="square" rtlCol="0">
            <a:spAutoFit/>
          </a:bodyPr>
          <a:lstStyle/>
          <a:p>
            <a:r>
              <a:rPr lang="en-US" sz="2000" b="1" dirty="0"/>
              <a:t>Role of Agentic AI :</a:t>
            </a:r>
          </a:p>
          <a:p>
            <a:endParaRPr lang="en-US" sz="2000" b="1" dirty="0"/>
          </a:p>
          <a:p>
            <a:r>
              <a:rPr lang="en-IN" sz="2000" dirty="0"/>
              <a:t>Agentic AI transforms the platform from a passive analytics tool into an autonomous marketing assistant.</a:t>
            </a:r>
          </a:p>
          <a:p>
            <a:endParaRPr lang="en-IN" sz="2000" dirty="0"/>
          </a:p>
          <a:p>
            <a:r>
              <a:rPr lang="en-IN" sz="2000" b="1" dirty="0"/>
              <a:t>Responsibilities</a:t>
            </a:r>
          </a:p>
          <a:p>
            <a:pPr marL="285750" indent="-285750">
              <a:buFont typeface="Arial" panose="020B0604020202020204" pitchFamily="34" charset="0"/>
              <a:buChar char="•"/>
            </a:pPr>
            <a:r>
              <a:rPr lang="en-IN" sz="2000" dirty="0"/>
              <a:t>Continuously monitors multiple social media platforms. </a:t>
            </a:r>
          </a:p>
          <a:p>
            <a:pPr marL="285750" indent="-285750">
              <a:buFont typeface="Arial" panose="020B0604020202020204" pitchFamily="34" charset="0"/>
              <a:buChar char="•"/>
            </a:pPr>
            <a:r>
              <a:rPr lang="en-IN" sz="2000" dirty="0"/>
              <a:t>Detects emerging trends automatically. </a:t>
            </a:r>
          </a:p>
          <a:p>
            <a:pPr marL="285750" indent="-285750">
              <a:buFont typeface="Arial" panose="020B0604020202020204" pitchFamily="34" charset="0"/>
              <a:buChar char="•"/>
            </a:pPr>
            <a:r>
              <a:rPr lang="en-IN" sz="2000" dirty="0"/>
              <a:t>Predicts audience engagement before posting. </a:t>
            </a:r>
          </a:p>
          <a:p>
            <a:pPr marL="285750" indent="-285750">
              <a:buFont typeface="Arial" panose="020B0604020202020204" pitchFamily="34" charset="0"/>
              <a:buChar char="•"/>
            </a:pPr>
            <a:r>
              <a:rPr lang="en-IN" sz="2000" dirty="0"/>
              <a:t>Generates captions, hashtags, and campaign ideas. </a:t>
            </a:r>
          </a:p>
          <a:p>
            <a:pPr marL="285750" indent="-285750">
              <a:buFont typeface="Arial" panose="020B0604020202020204" pitchFamily="34" charset="0"/>
              <a:buChar char="•"/>
            </a:pPr>
            <a:r>
              <a:rPr lang="en-IN" sz="2000" dirty="0"/>
              <a:t>Suggests the optimal posting schedule. </a:t>
            </a:r>
          </a:p>
          <a:p>
            <a:pPr marL="285750" indent="-285750">
              <a:buFont typeface="Arial" panose="020B0604020202020204" pitchFamily="34" charset="0"/>
              <a:buChar char="•"/>
            </a:pPr>
            <a:r>
              <a:rPr lang="en-IN" sz="2000" dirty="0"/>
              <a:t>Compares competitor strategies. </a:t>
            </a:r>
          </a:p>
          <a:p>
            <a:pPr marL="285750" indent="-285750">
              <a:buFont typeface="Arial" panose="020B0604020202020204" pitchFamily="34" charset="0"/>
              <a:buChar char="•"/>
            </a:pPr>
            <a:r>
              <a:rPr lang="en-IN" sz="2000" dirty="0"/>
              <a:t>Recommends marketing actions without requiring manual analysis. </a:t>
            </a:r>
          </a:p>
          <a:p>
            <a:pPr marL="285750" indent="-285750">
              <a:buFont typeface="Arial" panose="020B0604020202020204" pitchFamily="34" charset="0"/>
              <a:buChar char="•"/>
            </a:pPr>
            <a:r>
              <a:rPr lang="en-IN" sz="2000" dirty="0"/>
              <a:t>Learns from previous campaign performance for continuous improvement.</a:t>
            </a:r>
          </a:p>
          <a:p>
            <a:endParaRPr lang="en-US" sz="20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523220"/>
          </a:xfrm>
          <a:prstGeom prst="rect">
            <a:avLst/>
          </a:prstGeom>
          <a:noFill/>
        </p:spPr>
        <p:txBody>
          <a:bodyPr wrap="square" rtlCol="0">
            <a:spAutoFit/>
          </a:bodyPr>
          <a:lstStyle/>
          <a:p>
            <a:r>
              <a:rPr lang="en-US" sz="2800" b="1" dirty="0"/>
              <a:t>Novelty and Uniqueness</a:t>
            </a:r>
            <a:endParaRPr lang="en-IN" sz="28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355312"/>
          </a:xfrm>
          <a:prstGeom prst="rect">
            <a:avLst/>
          </a:prstGeom>
          <a:noFill/>
        </p:spPr>
        <p:txBody>
          <a:bodyPr wrap="square" rtlCol="0">
            <a:spAutoFit/>
          </a:bodyPr>
          <a:lstStyle/>
          <a:p>
            <a:r>
              <a:rPr lang="en-IN" sz="1800" b="1" dirty="0"/>
              <a:t>Existing Solutions</a:t>
            </a:r>
          </a:p>
          <a:p>
            <a:endParaRPr lang="en-IN" sz="1800" b="1" dirty="0"/>
          </a:p>
          <a:p>
            <a:pPr marL="285750" indent="-285750">
              <a:buFont typeface="Arial" panose="020B0604020202020204" pitchFamily="34" charset="0"/>
              <a:buChar char="•"/>
            </a:pPr>
            <a:r>
              <a:rPr lang="en-IN" sz="1800" dirty="0"/>
              <a:t>Usually limited to one platform. </a:t>
            </a:r>
          </a:p>
          <a:p>
            <a:pPr marL="285750" indent="-285750">
              <a:buFont typeface="Arial" panose="020B0604020202020204" pitchFamily="34" charset="0"/>
              <a:buChar char="•"/>
            </a:pPr>
            <a:r>
              <a:rPr lang="en-IN" sz="1800" dirty="0"/>
              <a:t>Mainly provide historical analytics. </a:t>
            </a:r>
          </a:p>
          <a:p>
            <a:pPr marL="285750" indent="-285750">
              <a:buFont typeface="Arial" panose="020B0604020202020204" pitchFamily="34" charset="0"/>
              <a:buChar char="•"/>
            </a:pPr>
            <a:r>
              <a:rPr lang="en-IN" sz="1800" dirty="0"/>
              <a:t>Require manual interpretation. </a:t>
            </a:r>
          </a:p>
          <a:p>
            <a:pPr marL="285750" indent="-285750">
              <a:buFont typeface="Arial" panose="020B0604020202020204" pitchFamily="34" charset="0"/>
              <a:buChar char="•"/>
            </a:pPr>
            <a:r>
              <a:rPr lang="en-IN" sz="1800" dirty="0"/>
              <a:t>Do not proactively recommend actions. </a:t>
            </a:r>
          </a:p>
          <a:p>
            <a:pPr marL="285750" indent="-285750">
              <a:buFont typeface="Arial" panose="020B0604020202020204" pitchFamily="34" charset="0"/>
              <a:buChar char="•"/>
            </a:pPr>
            <a:r>
              <a:rPr lang="en-IN" sz="1800" dirty="0"/>
              <a:t>Limited AI-generated content capabilities. </a:t>
            </a:r>
          </a:p>
          <a:p>
            <a:endParaRPr lang="en-IN" sz="1800" dirty="0"/>
          </a:p>
          <a:p>
            <a:r>
              <a:rPr lang="en-IN" sz="1800" b="1" dirty="0" err="1"/>
              <a:t>PulseAI</a:t>
            </a:r>
            <a:r>
              <a:rPr lang="en-IN" sz="1800" b="1" dirty="0"/>
              <a:t> Innovations</a:t>
            </a:r>
          </a:p>
          <a:p>
            <a:endParaRPr lang="en-IN" sz="1800" b="1" dirty="0"/>
          </a:p>
          <a:p>
            <a:pPr marL="285750" indent="-285750">
              <a:buFont typeface="Arial" panose="020B0604020202020204" pitchFamily="34" charset="0"/>
              <a:buChar char="•"/>
            </a:pPr>
            <a:r>
              <a:rPr lang="en-IN" sz="1800" dirty="0"/>
              <a:t>Multi-platform unified intelligence engine. </a:t>
            </a:r>
          </a:p>
          <a:p>
            <a:pPr marL="285750" indent="-285750">
              <a:buFont typeface="Arial" panose="020B0604020202020204" pitchFamily="34" charset="0"/>
              <a:buChar char="•"/>
            </a:pPr>
            <a:r>
              <a:rPr lang="en-IN" sz="1800" dirty="0"/>
              <a:t>Autonomous Agentic AI decision-making. </a:t>
            </a:r>
          </a:p>
          <a:p>
            <a:pPr marL="285750" indent="-285750">
              <a:buFont typeface="Arial" panose="020B0604020202020204" pitchFamily="34" charset="0"/>
              <a:buChar char="•"/>
            </a:pPr>
            <a:r>
              <a:rPr lang="en-IN" sz="1800" dirty="0"/>
              <a:t>Real-time trend prediction instead of historical reporting. </a:t>
            </a:r>
          </a:p>
          <a:p>
            <a:pPr marL="285750" indent="-285750">
              <a:buFont typeface="Arial" panose="020B0604020202020204" pitchFamily="34" charset="0"/>
              <a:buChar char="•"/>
            </a:pPr>
            <a:r>
              <a:rPr lang="en-IN" sz="1800" dirty="0"/>
              <a:t>AI-generated captions tailored to audience sentiment. </a:t>
            </a:r>
          </a:p>
          <a:p>
            <a:pPr marL="285750" indent="-285750">
              <a:buFont typeface="Arial" panose="020B0604020202020204" pitchFamily="34" charset="0"/>
              <a:buChar char="•"/>
            </a:pPr>
            <a:r>
              <a:rPr lang="en-IN" sz="1800" dirty="0"/>
              <a:t>Competitor strategy monitoring. </a:t>
            </a:r>
          </a:p>
          <a:p>
            <a:pPr marL="285750" indent="-285750">
              <a:buFont typeface="Arial" panose="020B0604020202020204" pitchFamily="34" charset="0"/>
              <a:buChar char="•"/>
            </a:pPr>
            <a:r>
              <a:rPr lang="en-IN" sz="1800" dirty="0"/>
              <a:t>Predictive campaign performance forecasting. </a:t>
            </a:r>
          </a:p>
          <a:p>
            <a:pPr marL="285750" indent="-285750">
              <a:buFont typeface="Arial" panose="020B0604020202020204" pitchFamily="34" charset="0"/>
              <a:buChar char="•"/>
            </a:pPr>
            <a:r>
              <a:rPr lang="en-IN" sz="1800" dirty="0"/>
              <a:t>Adaptive learning using previous campaign outcomes. </a:t>
            </a:r>
          </a:p>
          <a:p>
            <a:pPr marL="285750" indent="-285750">
              <a:buFont typeface="Arial" panose="020B0604020202020204" pitchFamily="34" charset="0"/>
              <a:buChar char="•"/>
            </a:pPr>
            <a:r>
              <a:rPr lang="en-IN" sz="1800" dirty="0"/>
              <a:t>Single dashboard combining analytics, recommendations, and content creation.</a:t>
            </a:r>
          </a:p>
          <a:p>
            <a:endParaRPr lang="en-IN" sz="1800" dirty="0"/>
          </a:p>
        </p:txBody>
      </p:sp>
    </p:spTree>
    <p:extLst>
      <p:ext uri="{BB962C8B-B14F-4D97-AF65-F5344CB8AC3E}">
        <p14:creationId xmlns:p14="http://schemas.microsoft.com/office/powerpoint/2010/main" val="91796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endParaRPr lang="en-US" sz="1850" dirty="0">
              <a:solidFill>
                <a:srgbClr val="2B3541"/>
              </a:solidFill>
              <a:latin typeface="Times New Roman"/>
              <a:ea typeface="Times New Roman"/>
              <a:cs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https://github.com/harshadadive/Social-Media-Agent/tree/main</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342900" lvl="0" indent="-342900">
              <a:lnSpc>
                <a:spcPct val="162162"/>
              </a:lnSpc>
              <a:buClr>
                <a:srgbClr val="2B3541"/>
              </a:buClr>
              <a:buSzPts val="1850"/>
              <a:buFont typeface="Arial" panose="020B0604020202020204" pitchFamily="34" charset="0"/>
              <a:buChar char="•"/>
            </a:pPr>
            <a:r>
              <a:rPr lang="en-IN" sz="2000" dirty="0"/>
              <a:t>Voice-based interaction with the AI assistant. </a:t>
            </a:r>
          </a:p>
          <a:p>
            <a:pPr marL="342900" lvl="0" indent="-342900">
              <a:lnSpc>
                <a:spcPct val="162162"/>
              </a:lnSpc>
              <a:buClr>
                <a:srgbClr val="2B3541"/>
              </a:buClr>
              <a:buSzPts val="1850"/>
              <a:buFont typeface="Arial" panose="020B0604020202020204" pitchFamily="34" charset="0"/>
              <a:buChar char="•"/>
            </a:pPr>
            <a:r>
              <a:rPr lang="en-IN" sz="2000" dirty="0"/>
              <a:t>AI-generated reels, images, and short videos. </a:t>
            </a:r>
          </a:p>
          <a:p>
            <a:pPr marL="342900" lvl="0" indent="-342900">
              <a:lnSpc>
                <a:spcPct val="162162"/>
              </a:lnSpc>
              <a:buClr>
                <a:srgbClr val="2B3541"/>
              </a:buClr>
              <a:buSzPts val="1850"/>
              <a:buFont typeface="Arial" panose="020B0604020202020204" pitchFamily="34" charset="0"/>
              <a:buChar char="•"/>
            </a:pPr>
            <a:r>
              <a:rPr lang="en-IN" sz="2000" dirty="0"/>
              <a:t>Automated campaign publishing across platforms. </a:t>
            </a:r>
          </a:p>
          <a:p>
            <a:pPr marL="342900" lvl="0" indent="-342900">
              <a:lnSpc>
                <a:spcPct val="162162"/>
              </a:lnSpc>
              <a:buClr>
                <a:srgbClr val="2B3541"/>
              </a:buClr>
              <a:buSzPts val="1850"/>
              <a:buFont typeface="Arial" panose="020B0604020202020204" pitchFamily="34" charset="0"/>
              <a:buChar char="•"/>
            </a:pPr>
            <a:r>
              <a:rPr lang="en-IN" sz="2000" dirty="0"/>
              <a:t>Influencer discovery and collaboration recommendations. </a:t>
            </a:r>
          </a:p>
          <a:p>
            <a:pPr marL="342900" lvl="0" indent="-342900">
              <a:lnSpc>
                <a:spcPct val="162162"/>
              </a:lnSpc>
              <a:buClr>
                <a:srgbClr val="2B3541"/>
              </a:buClr>
              <a:buSzPts val="1850"/>
              <a:buFont typeface="Arial" panose="020B0604020202020204" pitchFamily="34" charset="0"/>
              <a:buChar char="•"/>
            </a:pPr>
            <a:r>
              <a:rPr lang="en-IN" sz="2000" dirty="0"/>
              <a:t>Brand reputation crisis detection with instant alerts. </a:t>
            </a:r>
          </a:p>
          <a:p>
            <a:pPr marL="342900" lvl="0" indent="-342900">
              <a:lnSpc>
                <a:spcPct val="162162"/>
              </a:lnSpc>
              <a:buClr>
                <a:srgbClr val="2B3541"/>
              </a:buClr>
              <a:buSzPts val="1850"/>
              <a:buFont typeface="Arial" panose="020B0604020202020204" pitchFamily="34" charset="0"/>
              <a:buChar char="•"/>
            </a:pPr>
            <a:r>
              <a:rPr lang="en-IN" sz="2000" dirty="0"/>
              <a:t>Regional and multilingual sentiment analysis. </a:t>
            </a:r>
          </a:p>
          <a:p>
            <a:pPr marL="342900" lvl="0" indent="-342900">
              <a:lnSpc>
                <a:spcPct val="162162"/>
              </a:lnSpc>
              <a:buClr>
                <a:srgbClr val="2B3541"/>
              </a:buClr>
              <a:buSzPts val="1850"/>
              <a:buFont typeface="Arial" panose="020B0604020202020204" pitchFamily="34" charset="0"/>
              <a:buChar char="•"/>
            </a:pPr>
            <a:r>
              <a:rPr lang="en-IN" sz="2000" dirty="0"/>
              <a:t>Personalized marketing strategies using customer segmentation. </a:t>
            </a:r>
          </a:p>
          <a:p>
            <a:pPr marL="342900" lvl="0" indent="-342900">
              <a:lnSpc>
                <a:spcPct val="162162"/>
              </a:lnSpc>
              <a:buClr>
                <a:srgbClr val="2B3541"/>
              </a:buClr>
              <a:buSzPts val="1850"/>
              <a:buFont typeface="Arial" panose="020B0604020202020204" pitchFamily="34" charset="0"/>
              <a:buChar char="•"/>
            </a:pPr>
            <a:r>
              <a:rPr lang="en-IN" sz="2000" dirty="0"/>
              <a:t>Integration with CRM platforms (Salesforce, HubSpot).</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5" name="Picture 4">
            <a:extLst>
              <a:ext uri="{FF2B5EF4-FFF2-40B4-BE49-F238E27FC236}">
                <a16:creationId xmlns:a16="http://schemas.microsoft.com/office/drawing/2014/main" id="{3BA41A69-93C1-528B-316A-5A7ABA7B329E}"/>
              </a:ext>
            </a:extLst>
          </p:cNvPr>
          <p:cNvPicPr>
            <a:picLocks noChangeAspect="1"/>
          </p:cNvPicPr>
          <p:nvPr/>
        </p:nvPicPr>
        <p:blipFill>
          <a:blip r:embed="rId2"/>
          <a:stretch>
            <a:fillRect/>
          </a:stretch>
        </p:blipFill>
        <p:spPr>
          <a:xfrm>
            <a:off x="2876403" y="1266880"/>
            <a:ext cx="7277594" cy="5383740"/>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4911ED22-E292-3AC2-FAB7-398B7E3C3CDE}"/>
              </a:ext>
            </a:extLst>
          </p:cNvPr>
          <p:cNvPicPr>
            <a:picLocks noChangeAspect="1"/>
          </p:cNvPicPr>
          <p:nvPr/>
        </p:nvPicPr>
        <p:blipFill>
          <a:blip r:embed="rId2"/>
          <a:stretch>
            <a:fillRect/>
          </a:stretch>
        </p:blipFill>
        <p:spPr>
          <a:xfrm>
            <a:off x="3178024" y="1463573"/>
            <a:ext cx="6939369" cy="4674069"/>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176</TotalTime>
  <Words>954</Words>
  <Application>Microsoft Office PowerPoint</Application>
  <PresentationFormat>Widescreen</PresentationFormat>
  <Paragraphs>144</Paragraphs>
  <Slides>15</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diveharshada5@gmail.com</cp:lastModifiedBy>
  <cp:revision>17</cp:revision>
  <dcterms:created xsi:type="dcterms:W3CDTF">2025-07-08T05:06:56Z</dcterms:created>
  <dcterms:modified xsi:type="dcterms:W3CDTF">2026-07-15T10:27:11Z</dcterms:modified>
</cp:coreProperties>
</file>